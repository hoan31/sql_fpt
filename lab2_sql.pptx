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1" r:id="rId6"/>
    <p:sldId id="259"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6C73329E-82DF-4EF8-B586-973C151F551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D3279-FB59-4F69-9EEF-5773EBEB9BDD}"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C73329E-82DF-4EF8-B586-973C151F551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D3279-FB59-4F69-9EEF-5773EBEB9BDD}"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C73329E-82DF-4EF8-B586-973C151F551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D3279-FB59-4F69-9EEF-5773EBEB9BDD}"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C73329E-82DF-4EF8-B586-973C151F551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1D3279-FB59-4F69-9EEF-5773EBEB9BDD}"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C73329E-82DF-4EF8-B586-973C151F5510}"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1D3279-FB59-4F69-9EEF-5773EBEB9BDD}"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6C73329E-82DF-4EF8-B586-973C151F5510}"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1D3279-FB59-4F69-9EEF-5773EBEB9BDD}"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73329E-82DF-4EF8-B586-973C151F5510}"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1D3279-FB59-4F69-9EEF-5773EBEB9BDD}"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C73329E-82DF-4EF8-B586-973C151F551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1D3279-FB59-4F69-9EEF-5773EBEB9BDD}"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C73329E-82DF-4EF8-B586-973C151F551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1D3279-FB59-4F69-9EEF-5773EBEB9BDD}"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C73329E-82DF-4EF8-B586-973C151F551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D3279-FB59-4F69-9EEF-5773EBEB9BDD}"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C73329E-82DF-4EF8-B586-973C151F551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D3279-FB59-4F69-9EEF-5773EBEB9BDD}"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C73329E-82DF-4EF8-B586-973C151F551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D3279-FB59-4F69-9EEF-5773EBEB9BDD}"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73329E-82DF-4EF8-B586-973C151F5510}"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1D3279-FB59-4F69-9EEF-5773EBEB9BDD}"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77978" y="2093942"/>
            <a:ext cx="7711126" cy="2245360"/>
          </a:xfrm>
          <a:prstGeom prst="rect">
            <a:avLst/>
          </a:prstGeom>
          <a:noFill/>
        </p:spPr>
        <p:txBody>
          <a:bodyPr wrap="square" rtlCol="0">
            <a:spAutoFit/>
          </a:bodyPr>
          <a:lstStyle/>
          <a:p>
            <a:pPr algn="ctr"/>
            <a:r>
              <a:rPr lang="vi-VN" sz="2800" b="1" u="sng">
                <a:latin typeface="Times New Roman" panose="02020603050405020304" charset="0"/>
                <a:cs typeface="Times New Roman" panose="02020603050405020304" charset="0"/>
              </a:rPr>
              <a:t>Báo cáo Lab </a:t>
            </a:r>
            <a:r>
              <a:rPr lang="en-US" sz="2800" b="1" u="sng">
                <a:latin typeface="Times New Roman" panose="02020603050405020304" charset="0"/>
                <a:cs typeface="Times New Roman" panose="02020603050405020304" charset="0"/>
              </a:rPr>
              <a:t>2:</a:t>
            </a:r>
            <a:endParaRPr lang="en-US" sz="2800" b="1" u="sng">
              <a:latin typeface="Times New Roman" panose="02020603050405020304" charset="0"/>
              <a:cs typeface="Times New Roman" panose="02020603050405020304" charset="0"/>
            </a:endParaRPr>
          </a:p>
          <a:p>
            <a:pPr algn="ctr"/>
            <a:r>
              <a:rPr lang="vi-VN" sz="2800">
                <a:solidFill>
                  <a:srgbClr val="00B0F0"/>
                </a:solidFill>
                <a:latin typeface="Times New Roman" panose="02020603050405020304" charset="0"/>
                <a:cs typeface="Times New Roman" panose="02020603050405020304" charset="0"/>
              </a:rPr>
              <a:t>SV: </a:t>
            </a:r>
            <a:r>
              <a:rPr lang="en-US" altLang="vi-VN" sz="2800">
                <a:solidFill>
                  <a:srgbClr val="00B0F0"/>
                </a:solidFill>
                <a:latin typeface="Times New Roman" panose="02020603050405020304" charset="0"/>
                <a:cs typeface="Times New Roman" panose="02020603050405020304" charset="0"/>
              </a:rPr>
              <a:t>TRƯƠNG VĂN HOÀN</a:t>
            </a:r>
            <a:endParaRPr lang="en-US" sz="2800">
              <a:solidFill>
                <a:srgbClr val="00B0F0"/>
              </a:solidFill>
              <a:latin typeface="Times New Roman" panose="02020603050405020304" charset="0"/>
              <a:cs typeface="Times New Roman" panose="02020603050405020304" charset="0"/>
            </a:endParaRPr>
          </a:p>
          <a:p>
            <a:pPr algn="ctr"/>
            <a:r>
              <a:rPr lang="vi-VN" sz="2800">
                <a:solidFill>
                  <a:srgbClr val="00B0F0"/>
                </a:solidFill>
                <a:latin typeface="Times New Roman" panose="02020603050405020304" charset="0"/>
                <a:cs typeface="Times New Roman" panose="02020603050405020304" charset="0"/>
              </a:rPr>
              <a:t>MSV: PH</a:t>
            </a:r>
            <a:r>
              <a:rPr lang="en-US" altLang="vi-VN" sz="2800">
                <a:solidFill>
                  <a:srgbClr val="00B0F0"/>
                </a:solidFill>
                <a:latin typeface="Times New Roman" panose="02020603050405020304" charset="0"/>
                <a:cs typeface="Times New Roman" panose="02020603050405020304" charset="0"/>
              </a:rPr>
              <a:t>64180</a:t>
            </a:r>
            <a:r>
              <a:rPr lang="vi-VN" sz="2800">
                <a:solidFill>
                  <a:srgbClr val="00B0F0"/>
                </a:solidFill>
                <a:latin typeface="Times New Roman" panose="02020603050405020304" charset="0"/>
                <a:cs typeface="Times New Roman" panose="02020603050405020304" charset="0"/>
              </a:rPr>
              <a:t> </a:t>
            </a:r>
            <a:endParaRPr lang="en-US" sz="2800">
              <a:solidFill>
                <a:srgbClr val="00B0F0"/>
              </a:solidFill>
              <a:latin typeface="Times New Roman" panose="02020603050405020304" charset="0"/>
              <a:cs typeface="Times New Roman" panose="02020603050405020304" charset="0"/>
            </a:endParaRPr>
          </a:p>
          <a:p>
            <a:pPr algn="ctr"/>
            <a:r>
              <a:rPr lang="vi-VN" sz="2800">
                <a:solidFill>
                  <a:srgbClr val="00B0F0"/>
                </a:solidFill>
                <a:latin typeface="Times New Roman" panose="02020603050405020304" charset="0"/>
                <a:cs typeface="Times New Roman" panose="02020603050405020304" charset="0"/>
              </a:rPr>
              <a:t>Lớp: AI2130</a:t>
            </a:r>
            <a:r>
              <a:rPr lang="en-US" altLang="vi-VN" sz="2800">
                <a:solidFill>
                  <a:srgbClr val="00B0F0"/>
                </a:solidFill>
                <a:latin typeface="Times New Roman" panose="02020603050405020304" charset="0"/>
                <a:cs typeface="Times New Roman" panose="02020603050405020304" charset="0"/>
              </a:rPr>
              <a:t>1</a:t>
            </a:r>
            <a:endParaRPr lang="en-US" sz="2800">
              <a:solidFill>
                <a:srgbClr val="00B0F0"/>
              </a:solidFill>
              <a:latin typeface="Times New Roman" panose="02020603050405020304" charset="0"/>
              <a:cs typeface="Times New Roman" panose="02020603050405020304" charset="0"/>
            </a:endParaRPr>
          </a:p>
          <a:p>
            <a:pPr algn="ctr"/>
            <a:r>
              <a:rPr lang="vi-VN" sz="2800">
                <a:solidFill>
                  <a:srgbClr val="00B0F0"/>
                </a:solidFill>
                <a:latin typeface="Times New Roman" panose="02020603050405020304" charset="0"/>
                <a:cs typeface="Times New Roman" panose="02020603050405020304" charset="0"/>
              </a:rPr>
              <a:t>Môn: Khoa học dữ liệu</a:t>
            </a:r>
            <a:r>
              <a:rPr lang="en-US" altLang="vi-VN" sz="2800">
                <a:solidFill>
                  <a:srgbClr val="00B0F0"/>
                </a:solidFill>
                <a:latin typeface="Times New Roman" panose="02020603050405020304" charset="0"/>
                <a:cs typeface="Times New Roman" panose="02020603050405020304" charset="0"/>
              </a:rPr>
              <a:t> SQL</a:t>
            </a:r>
            <a:r>
              <a:rPr lang="vi-VN" sz="2800">
                <a:solidFill>
                  <a:srgbClr val="00B0F0"/>
                </a:solidFill>
                <a:latin typeface="Times New Roman" panose="02020603050405020304" charset="0"/>
                <a:cs typeface="Times New Roman" panose="02020603050405020304" charset="0"/>
              </a:rPr>
              <a:t> </a:t>
            </a:r>
            <a:endParaRPr lang="en-US" sz="2800">
              <a:solidFill>
                <a:srgbClr val="00B0F0"/>
              </a:solidFill>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168924" y="1064857"/>
            <a:ext cx="11994037" cy="2630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1" i="0" u="none" strike="noStrike" cap="none" normalizeH="0" baseline="0">
                <a:ln>
                  <a:noFill/>
                </a:ln>
                <a:solidFill>
                  <a:schemeClr val="tx1"/>
                </a:solidFill>
                <a:effectLst/>
                <a:latin typeface="Times New Roman" panose="02020603050405020304" charset="0"/>
                <a:cs typeface="Times New Roman" panose="02020603050405020304" charset="0"/>
              </a:rPr>
              <a:t>Bài 1:</a:t>
            </a:r>
            <a:r>
              <a:rPr kumimoji="0" lang="en-US" altLang="en-US" sz="2800" b="0" i="0" u="none" strike="noStrike" cap="none" normalizeH="0" baseline="0">
                <a:ln>
                  <a:noFill/>
                </a:ln>
                <a:solidFill>
                  <a:schemeClr val="tx1"/>
                </a:solidFill>
                <a:effectLst/>
                <a:latin typeface="Times New Roman" panose="02020603050405020304" charset="0"/>
                <a:cs typeface="Times New Roman" panose="02020603050405020304" charset="0"/>
              </a:rPr>
              <a:t> </a:t>
            </a:r>
            <a:endParaRPr kumimoji="0" lang="en-US" altLang="en-US" sz="28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0" marR="0" lvl="0" indent="0" algn="l" defTabSz="914400" rtl="0" eaLnBrk="0" fontAlgn="base" latinLnBrk="0" hangingPunct="0">
              <a:lnSpc>
                <a:spcPct val="100000"/>
              </a:lnSpc>
              <a:spcBef>
                <a:spcPct val="0"/>
              </a:spcBef>
              <a:spcAft>
                <a:spcPct val="0"/>
              </a:spcAft>
              <a:buClrTx/>
              <a:buSzTx/>
              <a:buFontTx/>
              <a:buAutoNum type="arabicPeriod"/>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Thực thể: Khách hàng (Customer)</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Thuộc tính:</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Mã khách hàng (ID), Tên khách hàng, Số điện thoại, Địa chỉ.</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Thực thể: Sản phẩm (Product)</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Thuộc tính:</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Mã sản phẩm (ID), Tên sản phẩm, Đơn giá.</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Thực thể: Hóa đơn (Order/Invoice)</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Thuộc tính:</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Mã hóa đơn, Ngày tạo, Tổng tiền.</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591945" y="582930"/>
            <a:ext cx="8564880" cy="5452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noAutofit/>
          </a:bodyPr>
          <a:lstStyle/>
          <a:p>
            <a:pPr marR="0" lvl="0" indent="0" algn="l" defTabSz="914400" rtl="0" eaLnBrk="0" fontAlgn="base" latinLnBrk="0" hangingPunct="0">
              <a:lnSpc>
                <a:spcPct val="100000"/>
              </a:lnSpc>
              <a:spcBef>
                <a:spcPct val="0"/>
              </a:spcBef>
              <a:spcAft>
                <a:spcPct val="0"/>
              </a:spcAft>
              <a:buClrTx/>
              <a:buSzTx/>
              <a:buNone/>
            </a:pP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R="0" lvl="0" indent="0" algn="l" defTabSz="914400" rtl="0" eaLnBrk="0" fontAlgn="base" latinLnBrk="0" hangingPunct="0">
              <a:lnSpc>
                <a:spcPct val="100000"/>
              </a:lnSpc>
              <a:spcBef>
                <a:spcPct val="0"/>
              </a:spcBef>
              <a:spcAft>
                <a:spcPct val="0"/>
              </a:spcAft>
              <a:buClrTx/>
              <a:buSzTx/>
              <a:buNone/>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Chuẩn 1NF (Loại bỏ cột đa trị):</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Cột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DanhSachSanPham chứa nhiều thông tin (Tên, Số lượng, Đơn giá) trong một ô. cần tách danh sách này ra thành các dòng riêng biệt.</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R="0" lvl="1" indent="0" algn="l" defTabSz="914400" rtl="0" eaLnBrk="0" fontAlgn="base" latinLnBrk="0" hangingPunct="0">
              <a:lnSpc>
                <a:spcPct val="100000"/>
              </a:lnSpc>
              <a:spcBef>
                <a:spcPct val="0"/>
              </a:spcBef>
              <a:spcAft>
                <a:spcPct val="0"/>
              </a:spcAft>
              <a:buClrTx/>
              <a:buSzTx/>
              <a:buNone/>
            </a:pP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a:t>
            </a:r>
            <a:r>
              <a:rPr lang="en-US" altLang="en-US" sz="2000">
                <a:ln>
                  <a:noFill/>
                </a:ln>
                <a:effectLst/>
                <a:latin typeface="Times New Roman" panose="02020603050405020304" charset="0"/>
                <a:cs typeface="Times New Roman" panose="02020603050405020304" charset="0"/>
                <a:sym typeface="+mn-ea"/>
              </a:rPr>
              <a:t>MaHD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 </a:t>
            </a:r>
            <a:r>
              <a:rPr lang="en-US" altLang="en-US" sz="2000">
                <a:ln>
                  <a:noFill/>
                </a:ln>
                <a:effectLst/>
                <a:latin typeface="Times New Roman" panose="02020603050405020304" charset="0"/>
                <a:cs typeface="Times New Roman" panose="02020603050405020304" charset="0"/>
                <a:sym typeface="+mn-ea"/>
              </a:rPr>
              <a:t>NgayTaoHD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 TenKH | SoDT| DiaChi| TongTien|</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R="0" lvl="1" indent="0" algn="l" defTabSz="914400" rtl="0" eaLnBrk="0" fontAlgn="base" latinLnBrk="0" hangingPunct="0">
              <a:lnSpc>
                <a:spcPct val="100000"/>
              </a:lnSpc>
              <a:spcBef>
                <a:spcPct val="0"/>
              </a:spcBef>
              <a:spcAft>
                <a:spcPct val="0"/>
              </a:spcAft>
              <a:buClrTx/>
              <a:buSzTx/>
              <a:buNone/>
            </a:pP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a:t>
            </a:r>
            <a:r>
              <a:rPr lang="en-US" altLang="en-US" sz="2000">
                <a:ln>
                  <a:noFill/>
                </a:ln>
                <a:effectLst/>
                <a:latin typeface="Times New Roman" panose="02020603050405020304" charset="0"/>
                <a:cs typeface="Times New Roman" panose="02020603050405020304" charset="0"/>
                <a:sym typeface="+mn-ea"/>
              </a:rPr>
              <a:t>MaHD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 TenSP | SoLuong| Gia|</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R="0" lvl="0" indent="0" algn="l" defTabSz="914400" rtl="0" eaLnBrk="0" fontAlgn="base" latinLnBrk="0" hangingPunct="0">
              <a:lnSpc>
                <a:spcPct val="100000"/>
              </a:lnSpc>
              <a:spcBef>
                <a:spcPct val="0"/>
              </a:spcBef>
              <a:spcAft>
                <a:spcPct val="0"/>
              </a:spcAft>
              <a:buClrTx/>
              <a:buSzTx/>
              <a:buNone/>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Chuẩn 2NF (Loại bỏ phụ thuộc một phần):</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Tách thông tin sản phẩm ra khỏi bảng hóa đơn vì thông tin sản phẩm (như Đơn giá gốc) không phụ thuộc hoàn toàn vào Mã hóa đơn.</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R="0" lvl="0" indent="457200" algn="l" defTabSz="914400" rtl="0" eaLnBrk="0" fontAlgn="base" latinLnBrk="0" hangingPunct="0">
              <a:lnSpc>
                <a:spcPct val="100000"/>
              </a:lnSpc>
              <a:spcBef>
                <a:spcPct val="0"/>
              </a:spcBef>
              <a:spcAft>
                <a:spcPct val="0"/>
              </a:spcAft>
              <a:buClrTx/>
              <a:buSzTx/>
              <a:buNone/>
            </a:pP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a:t>
            </a:r>
            <a:r>
              <a:rPr lang="en-US" altLang="en-US" sz="2000">
                <a:ln>
                  <a:noFill/>
                </a:ln>
                <a:effectLst/>
                <a:latin typeface="Times New Roman" panose="02020603050405020304" charset="0"/>
                <a:cs typeface="Times New Roman" panose="02020603050405020304" charset="0"/>
                <a:sym typeface="+mn-ea"/>
              </a:rPr>
              <a:t>MaSP </a:t>
            </a:r>
            <a:r>
              <a:rPr lang="en-US" altLang="en-US" sz="2000">
                <a:ln>
                  <a:noFill/>
                </a:ln>
                <a:effectLst/>
                <a:latin typeface="Times New Roman" panose="02020603050405020304" charset="0"/>
                <a:cs typeface="Times New Roman" panose="02020603050405020304" charset="0"/>
                <a:sym typeface="+mn-ea"/>
              </a:rPr>
              <a:t>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 TenSP | Gia |</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R="0" lvl="0" indent="457200" algn="l" defTabSz="914400" rtl="0" eaLnBrk="0" fontAlgn="base" latinLnBrk="0" hangingPunct="0">
              <a:lnSpc>
                <a:spcPct val="100000"/>
              </a:lnSpc>
              <a:spcBef>
                <a:spcPct val="0"/>
              </a:spcBef>
              <a:spcAft>
                <a:spcPct val="0"/>
              </a:spcAft>
              <a:buClrTx/>
              <a:buSzTx/>
              <a:buNone/>
            </a:pP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a:t>
            </a:r>
            <a:r>
              <a:rPr lang="en-US" altLang="en-US" sz="2000">
                <a:ln>
                  <a:noFill/>
                </a:ln>
                <a:effectLst/>
                <a:latin typeface="Times New Roman" panose="02020603050405020304" charset="0"/>
                <a:cs typeface="Times New Roman" panose="02020603050405020304" charset="0"/>
                <a:sym typeface="+mn-ea"/>
              </a:rPr>
              <a:t>MaHD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 </a:t>
            </a:r>
            <a:r>
              <a:rPr lang="en-US" altLang="en-US" sz="2000">
                <a:ln>
                  <a:noFill/>
                </a:ln>
                <a:effectLst/>
                <a:latin typeface="Times New Roman" panose="02020603050405020304" charset="0"/>
                <a:cs typeface="Times New Roman" panose="02020603050405020304" charset="0"/>
                <a:sym typeface="+mn-ea"/>
              </a:rPr>
              <a:t>MaSP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 SoLuong|</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R="0" lvl="0" indent="0" algn="l" defTabSz="914400" rtl="0" eaLnBrk="0" fontAlgn="base" latinLnBrk="0" hangingPunct="0">
              <a:lnSpc>
                <a:spcPct val="100000"/>
              </a:lnSpc>
              <a:spcBef>
                <a:spcPct val="0"/>
              </a:spcBef>
              <a:spcAft>
                <a:spcPct val="0"/>
              </a:spcAft>
              <a:buClrTx/>
              <a:buSzTx/>
              <a:buNone/>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Chuẩn 3NF (Loại bỏ phụ thuộc bắc cầu):</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Tách thông tin Khách hàng ra bảng riêng. Trong bảng Hóa đơn ban đầu, Địa chỉ khách hàng phụ thuộc vào Tên khách hàng, Tên khách hàng lại phụ thuộc vào Mã hóa đơn.</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R="0" lvl="1" indent="0" algn="l" defTabSz="914400" rtl="0" eaLnBrk="0" fontAlgn="base" latinLnBrk="0" hangingPunct="0">
              <a:lnSpc>
                <a:spcPct val="100000"/>
              </a:lnSpc>
              <a:spcBef>
                <a:spcPct val="0"/>
              </a:spcBef>
              <a:spcAft>
                <a:spcPct val="0"/>
              </a:spcAft>
              <a:buClrTx/>
              <a:buSzTx/>
              <a:buNone/>
            </a:pP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a:t>
            </a:r>
            <a:r>
              <a:rPr lang="en-US" altLang="en-US" sz="2000">
                <a:ln>
                  <a:noFill/>
                </a:ln>
                <a:effectLst/>
                <a:latin typeface="Times New Roman" panose="02020603050405020304" charset="0"/>
                <a:cs typeface="Times New Roman" panose="02020603050405020304" charset="0"/>
                <a:sym typeface="+mn-ea"/>
              </a:rPr>
              <a:t>MaKH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 TenKH | SoDT| DiaChi|</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R="0" lvl="1" indent="0" algn="l" defTabSz="914400" rtl="0" eaLnBrk="0" fontAlgn="base" latinLnBrk="0" hangingPunct="0">
              <a:lnSpc>
                <a:spcPct val="100000"/>
              </a:lnSpc>
              <a:spcBef>
                <a:spcPct val="0"/>
              </a:spcBef>
              <a:spcAft>
                <a:spcPct val="0"/>
              </a:spcAft>
              <a:buClrTx/>
              <a:buSzTx/>
              <a:buNone/>
            </a:pP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a:t>
            </a:r>
            <a:r>
              <a:rPr lang="en-US" altLang="en-US" sz="2000">
                <a:ln>
                  <a:noFill/>
                </a:ln>
                <a:effectLst/>
                <a:latin typeface="Times New Roman" panose="02020603050405020304" charset="0"/>
                <a:cs typeface="Times New Roman" panose="02020603050405020304" charset="0"/>
                <a:sym typeface="+mn-ea"/>
              </a:rPr>
              <a:t>MaSP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 TenSP | Gia|</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R="0" lvl="1" indent="0" algn="l" defTabSz="914400" rtl="0" eaLnBrk="0" fontAlgn="base" latinLnBrk="0" hangingPunct="0">
              <a:lnSpc>
                <a:spcPct val="100000"/>
              </a:lnSpc>
              <a:spcBef>
                <a:spcPct val="0"/>
              </a:spcBef>
              <a:spcAft>
                <a:spcPct val="0"/>
              </a:spcAft>
              <a:buClrTx/>
              <a:buSzTx/>
              <a:buNone/>
            </a:pP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a:t>
            </a:r>
            <a:r>
              <a:rPr lang="en-US" altLang="en-US" sz="2000">
                <a:ln>
                  <a:noFill/>
                </a:ln>
                <a:effectLst/>
                <a:latin typeface="Times New Roman" panose="02020603050405020304" charset="0"/>
                <a:cs typeface="Times New Roman" panose="02020603050405020304" charset="0"/>
                <a:sym typeface="+mn-ea"/>
              </a:rPr>
              <a:t>MaHD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 NgayTaoHD | </a:t>
            </a:r>
            <a:r>
              <a:rPr lang="en-US" altLang="en-US" sz="2000">
                <a:ln>
                  <a:noFill/>
                </a:ln>
                <a:effectLst/>
                <a:latin typeface="Times New Roman" panose="02020603050405020304" charset="0"/>
                <a:cs typeface="Times New Roman" panose="02020603050405020304" charset="0"/>
                <a:sym typeface="+mn-ea"/>
              </a:rPr>
              <a:t>MaKH </a:t>
            </a:r>
            <a:r>
              <a:rPr lang="en-US" altLang="en-US" sz="2000">
                <a:ln>
                  <a:noFill/>
                </a:ln>
                <a:effectLst/>
                <a:latin typeface="Times New Roman" panose="02020603050405020304" charset="0"/>
                <a:cs typeface="Times New Roman" panose="02020603050405020304" charset="0"/>
                <a:sym typeface="+mn-ea"/>
              </a:rPr>
              <a:t>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 TongTien |</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R="0" lvl="1" indent="0" algn="l" defTabSz="914400" rtl="0" eaLnBrk="0" fontAlgn="base" latinLnBrk="0" hangingPunct="0">
              <a:lnSpc>
                <a:spcPct val="100000"/>
              </a:lnSpc>
              <a:spcBef>
                <a:spcPct val="0"/>
              </a:spcBef>
              <a:spcAft>
                <a:spcPct val="0"/>
              </a:spcAft>
              <a:buClrTx/>
              <a:buSzTx/>
              <a:buNone/>
            </a:pP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NgayTaoHD | </a:t>
            </a:r>
            <a:r>
              <a:rPr lang="en-US" altLang="en-US" sz="2000">
                <a:ln>
                  <a:noFill/>
                </a:ln>
                <a:effectLst/>
                <a:latin typeface="Times New Roman" panose="02020603050405020304" charset="0"/>
                <a:cs typeface="Times New Roman" panose="02020603050405020304" charset="0"/>
                <a:sym typeface="+mn-ea"/>
              </a:rPr>
              <a:t>MaHD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 </a:t>
            </a:r>
            <a:r>
              <a:rPr lang="en-US" altLang="en-US" sz="2000">
                <a:ln>
                  <a:noFill/>
                </a:ln>
                <a:effectLst/>
                <a:latin typeface="Times New Roman" panose="02020603050405020304" charset="0"/>
                <a:cs typeface="Times New Roman" panose="02020603050405020304" charset="0"/>
                <a:sym typeface="+mn-ea"/>
              </a:rPr>
              <a:t>MaSP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 SoLuong| Gia |</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p:txBody>
      </p:sp>
      <p:sp>
        <p:nvSpPr>
          <p:cNvPr id="4" name="TextBox 3"/>
          <p:cNvSpPr txBox="1"/>
          <p:nvPr/>
        </p:nvSpPr>
        <p:spPr>
          <a:xfrm>
            <a:off x="162560" y="126365"/>
            <a:ext cx="8453755" cy="52197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1" i="0" strike="noStrike" cap="none" normalizeH="0" baseline="0">
                <a:ln>
                  <a:noFill/>
                </a:ln>
                <a:solidFill>
                  <a:schemeClr val="tx1"/>
                </a:solidFill>
                <a:effectLst/>
                <a:latin typeface="Times New Roman" panose="02020603050405020304" charset="0"/>
                <a:cs typeface="Times New Roman" panose="02020603050405020304" charset="0"/>
              </a:rPr>
              <a:t>Bài 2: Chuẩn hóa dữ liệu (1NF → 3NF) </a:t>
            </a:r>
            <a:endParaRPr kumimoji="0" lang="en-US" altLang="en-US" sz="2800" b="1" i="0" strike="noStrike" cap="none" normalizeH="0" baseline="0">
              <a:ln>
                <a:noFill/>
              </a:ln>
              <a:solidFill>
                <a:schemeClr val="tx1"/>
              </a:solidFill>
              <a:effectLst/>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719580" y="591820"/>
            <a:ext cx="9155430" cy="4491355"/>
          </a:xfrm>
          <a:prstGeom prst="rect">
            <a:avLst/>
          </a:prstGeom>
          <a:noFill/>
        </p:spPr>
        <p:txBody>
          <a:bodyPr wrap="square" rtlCol="0">
            <a:noAutofit/>
          </a:bodyPr>
          <a:p>
            <a:r>
              <a:rPr lang="en-US" sz="2000" b="1">
                <a:latin typeface="Times New Roman" panose="02020603050405020304" charset="0"/>
                <a:cs typeface="Times New Roman" panose="02020603050405020304" charset="0"/>
              </a:rPr>
              <a:t>4.</a:t>
            </a:r>
            <a:r>
              <a:rPr lang="en-US" altLang="en-US" sz="2000" b="1">
                <a:latin typeface="Times New Roman" panose="02020603050405020304" charset="0"/>
                <a:cs typeface="Times New Roman" panose="02020603050405020304" charset="0"/>
              </a:rPr>
              <a:t>Kiểu dữ liệu</a:t>
            </a:r>
            <a:endParaRPr lang="en-US" altLang="en-US" sz="2000" b="1">
              <a:latin typeface="Times New Roman" panose="02020603050405020304" charset="0"/>
              <a:cs typeface="Times New Roman" panose="02020603050405020304" charset="0"/>
            </a:endParaRPr>
          </a:p>
          <a:p>
            <a:endParaRPr lang="en-US" altLang="en-US" sz="2000" b="1">
              <a:latin typeface="Times New Roman" panose="02020603050405020304" charset="0"/>
              <a:cs typeface="Times New Roman" panose="02020603050405020304" charset="0"/>
            </a:endParaRPr>
          </a:p>
        </p:txBody>
      </p:sp>
      <p:pic>
        <p:nvPicPr>
          <p:cNvPr id="5" name="Picture 4"/>
          <p:cNvPicPr>
            <a:picLocks noChangeAspect="1"/>
          </p:cNvPicPr>
          <p:nvPr/>
        </p:nvPicPr>
        <p:blipFill>
          <a:blip r:embed="rId1"/>
          <a:stretch>
            <a:fillRect/>
          </a:stretch>
        </p:blipFill>
        <p:spPr>
          <a:xfrm>
            <a:off x="2173605" y="1348740"/>
            <a:ext cx="8535670" cy="40735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8027" y="192406"/>
            <a:ext cx="6094428" cy="521970"/>
          </a:xfrm>
          <a:prstGeom prst="rect">
            <a:avLst/>
          </a:prstGeom>
          <a:noFill/>
        </p:spPr>
        <p:txBody>
          <a:bodyPr wrap="square">
            <a:spAutoFit/>
          </a:bodyPr>
          <a:lstStyle/>
          <a:p>
            <a:r>
              <a:rPr lang="en-US" sz="2800" b="1">
                <a:latin typeface="Times New Roman" panose="02020603050405020304" charset="0"/>
                <a:cs typeface="Times New Roman" panose="02020603050405020304" charset="0"/>
              </a:rPr>
              <a:t>Bài 3: Xác định Khóa và Quan hệ</a:t>
            </a:r>
            <a:endParaRPr lang="en-US" sz="2800" b="1">
              <a:latin typeface="Times New Roman" panose="02020603050405020304" charset="0"/>
              <a:cs typeface="Times New Roman" panose="02020603050405020304" charset="0"/>
            </a:endParaRPr>
          </a:p>
        </p:txBody>
      </p:sp>
      <p:sp>
        <p:nvSpPr>
          <p:cNvPr id="4" name="Rectangle 1"/>
          <p:cNvSpPr>
            <a:spLocks noChangeArrowheads="1"/>
          </p:cNvSpPr>
          <p:nvPr/>
        </p:nvSpPr>
        <p:spPr bwMode="auto">
          <a:xfrm>
            <a:off x="238027" y="851533"/>
            <a:ext cx="11479491" cy="5277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1. Xác định Khóa chính (Primary Key - PK) </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Bảng KhachHang:</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MaKH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là PK.</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Bảng SanPham:</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MaSP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là PK.</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Bảng HoaDon:</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MaHD</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là PK.</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Bảng ChiTietHD:</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Khóa chính phức hợp gồm (MaHD</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MaSP</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2. Xác định Khóa ngoại (Foreign Key - FK) </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Bảng HoaDon:</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Cột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MaKH là FK tham chiếu đến PK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MaKH của bảng </a:t>
            </a: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KhachHang</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Bảng ChiTietHD:</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 Cột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MaHD là FK tham chiếu đến PK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MaHD của bảng </a:t>
            </a: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HoaDon</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Cột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MaSP là FK tham chiếu đến PK </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MaSP của bảng </a:t>
            </a: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SanPham</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3. Mô tả Quan hệ </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Khách hàng - Hóa đơn:</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Quan hệ </a:t>
            </a: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Một - Nhiều (1-n)</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Một khách hàng có thể có nhiều hóa đơn, nhưng một hóa đơn chỉ thuộc về một khách hàng duy nhất.</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Hóa đơn - Sản phẩm:</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Quan hệ gốc là </a:t>
            </a: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Nhiều - Nhiều (n-n)</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Quan hệ này đã được giải quyết bằng cách tách ra bảng trung gian là </a:t>
            </a: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ChiTietHD</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HoaDon - ChiTietHD:</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Quan hệ </a:t>
            </a: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1-n</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SanPham - ChiTietHD:</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 Quan hệ </a:t>
            </a:r>
            <a:r>
              <a:rPr kumimoji="0" lang="en-US" altLang="en-US" sz="2000" b="1" i="0" u="none" strike="noStrike" cap="none" normalizeH="0" baseline="0">
                <a:ln>
                  <a:noFill/>
                </a:ln>
                <a:solidFill>
                  <a:schemeClr val="tx1"/>
                </a:solidFill>
                <a:effectLst/>
                <a:latin typeface="Times New Roman" panose="02020603050405020304" charset="0"/>
                <a:cs typeface="Times New Roman" panose="02020603050405020304" charset="0"/>
              </a:rPr>
              <a:t>1-n</a:t>
            </a:r>
            <a:r>
              <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rPr>
              <a:t>.</a:t>
            </a: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000" b="0" i="0" u="none" strike="noStrike" cap="none" normalizeH="0" baseline="0">
              <a:ln>
                <a:noFill/>
              </a:ln>
              <a:solidFill>
                <a:schemeClr val="tx1"/>
              </a:solidFill>
              <a:effectLst/>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3695" y="103695"/>
            <a:ext cx="5882326" cy="521970"/>
          </a:xfrm>
          <a:prstGeom prst="rect">
            <a:avLst/>
          </a:prstGeom>
          <a:noFill/>
        </p:spPr>
        <p:txBody>
          <a:bodyPr wrap="square" rtlCol="0">
            <a:spAutoFit/>
          </a:bodyPr>
          <a:lstStyle/>
          <a:p>
            <a:r>
              <a:rPr lang="en-US" sz="2800" b="1">
                <a:latin typeface="Times New Roman" panose="02020603050405020304" charset="0"/>
                <a:cs typeface="Times New Roman" panose="02020603050405020304" charset="0"/>
              </a:rPr>
              <a:t>BÀI 4</a:t>
            </a:r>
            <a:endParaRPr lang="en-US" sz="2800" b="1">
              <a:latin typeface="Times New Roman" panose="02020603050405020304" charset="0"/>
              <a:cs typeface="Times New Roman" panose="02020603050405020304" charset="0"/>
            </a:endParaRPr>
          </a:p>
        </p:txBody>
      </p:sp>
      <p:pic>
        <p:nvPicPr>
          <p:cNvPr id="3" name="Picture 2"/>
          <p:cNvPicPr>
            <a:picLocks noChangeAspect="1"/>
          </p:cNvPicPr>
          <p:nvPr/>
        </p:nvPicPr>
        <p:blipFill>
          <a:blip r:embed="rId1"/>
          <a:stretch>
            <a:fillRect/>
          </a:stretch>
        </p:blipFill>
        <p:spPr>
          <a:xfrm>
            <a:off x="1579514" y="888476"/>
            <a:ext cx="9032972" cy="508104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2014</Words>
  <Application>WPS Presentation</Application>
  <PresentationFormat>Widescreen</PresentationFormat>
  <Paragraphs>52</Paragraphs>
  <Slides>6</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6</vt:i4>
      </vt:variant>
    </vt:vector>
  </HeadingPairs>
  <TitlesOfParts>
    <vt:vector size="21" baseType="lpstr">
      <vt:lpstr>Arial</vt:lpstr>
      <vt:lpstr>SimSun</vt:lpstr>
      <vt:lpstr>Wingdings</vt:lpstr>
      <vt:lpstr>Google Sans</vt:lpstr>
      <vt:lpstr>Segoe Print</vt:lpstr>
      <vt:lpstr>Google Sans Text</vt:lpstr>
      <vt:lpstr>Calibri</vt:lpstr>
      <vt:lpstr>Microsoft YaHei</vt:lpstr>
      <vt:lpstr>Arial Unicode MS</vt:lpstr>
      <vt:lpstr>Calibri Light</vt:lpstr>
      <vt:lpstr>Times New Roman</vt:lpstr>
      <vt:lpstr>Constantia</vt:lpstr>
      <vt:lpstr>Broadway</vt:lpstr>
      <vt:lpstr>Cambria</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Lượng Bùi Văn</dc:creator>
  <cp:lastModifiedBy>HOAN TRUONG</cp:lastModifiedBy>
  <cp:revision>2</cp:revision>
  <dcterms:created xsi:type="dcterms:W3CDTF">2026-03-13T12:07:00Z</dcterms:created>
  <dcterms:modified xsi:type="dcterms:W3CDTF">2026-03-18T16:38:26Z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71F40B4E951B4C0591E4D2AE1433947A_12</vt:lpwstr>
  </property>
</Properties>
</file>